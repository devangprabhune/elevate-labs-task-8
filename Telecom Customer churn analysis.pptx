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282" r:id="rId7"/>
    <p:sldId id="324" r:id="rId8"/>
    <p:sldId id="325" r:id="rId9"/>
    <p:sldId id="326" r:id="rId10"/>
    <p:sldId id="327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65" d="100"/>
          <a:sy n="65" d="100"/>
        </p:scale>
        <p:origin x="724" y="2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Telecom Customer churn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A613C3-1808-EA7C-EDF1-74A1C790BD15}"/>
              </a:ext>
            </a:extLst>
          </p:cNvPr>
          <p:cNvSpPr txBox="1"/>
          <p:nvPr/>
        </p:nvSpPr>
        <p:spPr>
          <a:xfrm>
            <a:off x="4778478" y="3615672"/>
            <a:ext cx="3421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Author- Devang Prabhune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Insight #1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Insight #2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Insight #3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Insight #4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4294416"/>
          </a:xfrm>
        </p:spPr>
        <p:txBody>
          <a:bodyPr/>
          <a:lstStyle/>
          <a:p>
            <a:pPr marL="0" indent="0">
              <a:buNone/>
            </a:pPr>
            <a:r>
              <a:rPr lang="en-GB" b="1" i="0" dirty="0">
                <a:solidFill>
                  <a:srgbClr val="2C2C36"/>
                </a:solidFill>
                <a:effectLst/>
                <a:latin typeface="system-ui"/>
              </a:rPr>
              <a:t>Welcome to the Telecom Customer Churn Analysis Dashboard 🌐</a:t>
            </a:r>
          </a:p>
          <a:p>
            <a:pPr marL="0" indent="0">
              <a:buNone/>
            </a:pPr>
            <a:r>
              <a:rPr lang="en-US" dirty="0"/>
              <a:t>Overview</a:t>
            </a:r>
          </a:p>
          <a:p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This dashboard provides insights into why telecom customers churn based on real-world data from a telecommunications company.</a:t>
            </a:r>
          </a:p>
          <a:p>
            <a:pPr marL="0" indent="0">
              <a:buNone/>
            </a:pPr>
            <a:r>
              <a:rPr lang="en-US" dirty="0"/>
              <a:t>Dataset Overview</a:t>
            </a:r>
          </a:p>
          <a:p>
            <a:r>
              <a:rPr lang="en-US" dirty="0">
                <a:solidFill>
                  <a:schemeClr val="tx1"/>
                </a:solidFill>
              </a:rPr>
              <a:t>Files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used : </a:t>
            </a:r>
            <a:r>
              <a:rPr lang="en-IN" b="1" i="0" dirty="0">
                <a:solidFill>
                  <a:schemeClr val="tx1"/>
                </a:solidFill>
                <a:effectLst/>
                <a:latin typeface="ui-monospace"/>
              </a:rPr>
              <a:t>Telco_customer_churn.xlsx</a:t>
            </a:r>
          </a:p>
          <a:p>
            <a:r>
              <a:rPr lang="en-GB" dirty="0">
                <a:solidFill>
                  <a:schemeClr val="tx1"/>
                </a:solidFill>
              </a:rPr>
              <a:t>Key fields: Gender, Tenure, Internet Service, Contract Type, Monthly Charges, Churn Reason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Tools Used</a:t>
            </a:r>
          </a:p>
          <a:p>
            <a:r>
              <a:rPr lang="en-US" dirty="0">
                <a:solidFill>
                  <a:schemeClr val="tx1"/>
                </a:solidFill>
                <a:latin typeface="system-ui"/>
              </a:rPr>
              <a:t>Microsoft Power BI</a:t>
            </a:r>
          </a:p>
          <a:p>
            <a:r>
              <a:rPr lang="en-US" dirty="0">
                <a:solidFill>
                  <a:schemeClr val="tx1"/>
                </a:solidFill>
                <a:latin typeface="system-ui"/>
              </a:rPr>
              <a:t>Microsoft Excel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DE60-CEB3-5BB7-44A3-33D8D79F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Insight #1 – Month-to-Month Contracts Have Highest Churn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CC91C-EA9E-E505-D722-940685C232B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407884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lgerian" panose="04020705040A02060702" pitchFamily="82" charset="0"/>
              </a:rPr>
              <a:t>Key Insight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pPr marL="0" lvl="1" indent="0">
              <a:buNone/>
            </a:pPr>
            <a:r>
              <a:rPr lang="en-GB" sz="2200" dirty="0">
                <a:solidFill>
                  <a:schemeClr val="tx1"/>
                </a:solidFill>
              </a:rPr>
              <a:t>Customers with Month-to-Month contracts have the highest churn rate compared to One-Year and Two-Year plans.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lgerian" panose="04020705040A02060702" pitchFamily="82" charset="0"/>
              </a:rPr>
              <a:t>Visual Suggestion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Clustered Bar Chart showing % Churn by Contract Type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Algerian" panose="04020705040A02060702" pitchFamily="82" charset="0"/>
              </a:rPr>
              <a:t>Recommendation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Incentivize customers to switch to longer-term plans.</a:t>
            </a:r>
          </a:p>
          <a:p>
            <a:r>
              <a:rPr lang="en-GB" dirty="0">
                <a:solidFill>
                  <a:schemeClr val="tx1"/>
                </a:solidFill>
              </a:rPr>
              <a:t>Offer discounts or bundle services for contract renewal.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A9194-80EC-C93B-6C8C-119A33CE7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595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CE6C5-2711-C8B1-8A4A-DA6B2BD66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B50A-4195-D38B-3126-99B1BB8C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16035"/>
            <a:ext cx="7843837" cy="1012782"/>
          </a:xfrm>
        </p:spPr>
        <p:txBody>
          <a:bodyPr/>
          <a:lstStyle/>
          <a:p>
            <a:r>
              <a:rPr lang="en-GB" b="1" i="0" dirty="0">
                <a:effectLst/>
              </a:rPr>
              <a:t>Insight #2 – Fiber Optic Users Churn More Than DSL Users</a:t>
            </a:r>
            <a:br>
              <a:rPr lang="en-GB" b="1" i="0" dirty="0">
                <a:solidFill>
                  <a:srgbClr val="2C2C36"/>
                </a:solidFill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3A8F2-C823-533A-D9C7-F235190CDD6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4226325"/>
          </a:xfrm>
        </p:spPr>
        <p:txBody>
          <a:bodyPr>
            <a:normAutofit fontScale="70000" lnSpcReduction="20000"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GB" b="0" i="0" dirty="0">
                <a:effectLst/>
                <a:latin typeface="Algerian" panose="04020705040A02060702" pitchFamily="82" charset="0"/>
              </a:rPr>
              <a:t>Key Insight</a:t>
            </a:r>
          </a:p>
          <a:p>
            <a:pPr marL="457200" indent="-45720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Despite being a premium service, </a:t>
            </a:r>
            <a:r>
              <a:rPr lang="en-GB" b="0" i="0" dirty="0">
                <a:solidFill>
                  <a:srgbClr val="111827"/>
                </a:solidFill>
                <a:effectLst/>
                <a:latin typeface="system-ui"/>
              </a:rPr>
              <a:t>Fiber Optic users </a:t>
            </a: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churn more than </a:t>
            </a:r>
            <a:r>
              <a:rPr lang="en-GB" b="0" i="0" dirty="0">
                <a:solidFill>
                  <a:srgbClr val="111827"/>
                </a:solidFill>
                <a:effectLst/>
                <a:latin typeface="system-ui"/>
              </a:rPr>
              <a:t>DSL users </a:t>
            </a: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b="0" i="0" dirty="0">
                <a:effectLst/>
                <a:latin typeface="Algerian" panose="04020705040A02060702" pitchFamily="82" charset="0"/>
              </a:rPr>
              <a:t>Possible Reasons</a:t>
            </a:r>
          </a:p>
          <a:p>
            <a:pPr marL="457200" indent="-457200"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Price sensitivity</a:t>
            </a:r>
          </a:p>
          <a:p>
            <a:pPr marL="457200" indent="-457200"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Network performance issues</a:t>
            </a:r>
          </a:p>
          <a:p>
            <a:pPr marL="457200" indent="-457200"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Poor customer expectations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b="0" i="0" dirty="0">
                <a:effectLst/>
                <a:latin typeface="Algerian" panose="04020705040A02060702" pitchFamily="82" charset="0"/>
              </a:rPr>
              <a:t>Recommendation</a:t>
            </a:r>
          </a:p>
          <a:p>
            <a:pPr marL="457200" indent="-45720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Improve service quality or offer promotions to retain these users.</a:t>
            </a:r>
          </a:p>
          <a:p>
            <a:pPr marL="457200" indent="-45720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Investigate feedback from high-value Fiber customers.</a:t>
            </a:r>
          </a:p>
          <a:p>
            <a:endParaRPr lang="en-IN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30E5C47-20B2-C317-FBDC-57D405D5DA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A1726-A654-400C-CC2E-F2B0B3632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696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56E60-0EE7-4FEF-2CFC-40E6139D7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58BD-E1DE-0873-CF69-01183C47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Insight #3 – Electronic Checks Correlate with Lower Churn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AF112-1582-FC9B-F8AA-BA01496F64C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251588"/>
            <a:ext cx="6903076" cy="437535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lgerian" panose="04020705040A02060702" pitchFamily="82" charset="0"/>
              </a:rPr>
              <a:t>Key Insight</a:t>
            </a:r>
          </a:p>
          <a:p>
            <a:r>
              <a:rPr lang="en-GB" dirty="0">
                <a:solidFill>
                  <a:schemeClr val="tx1"/>
                </a:solidFill>
              </a:rPr>
              <a:t>Customers using Electronic Checks tend to stay longer than those using Mailed Checks or Bank Withdrawals.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lgerian" panose="04020705040A02060702" pitchFamily="82" charset="0"/>
              </a:rPr>
              <a:t>Visual</a:t>
            </a:r>
            <a:r>
              <a:rPr lang="en-GB" dirty="0"/>
              <a:t> </a:t>
            </a:r>
            <a:r>
              <a:rPr lang="en-GB" dirty="0">
                <a:latin typeface="Algerian" panose="04020705040A02060702" pitchFamily="82" charset="0"/>
              </a:rPr>
              <a:t>Suggestion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>
                <a:solidFill>
                  <a:schemeClr val="tx1"/>
                </a:solidFill>
              </a:rPr>
              <a:t>Pie/Bar chart showing churn % by Payment Method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lgerian" panose="04020705040A02060702" pitchFamily="82" charset="0"/>
              </a:rPr>
              <a:t>Recommendation</a:t>
            </a:r>
          </a:p>
          <a:p>
            <a:endParaRPr lang="en-GB" dirty="0"/>
          </a:p>
          <a:p>
            <a:r>
              <a:rPr lang="en-GB" dirty="0">
                <a:solidFill>
                  <a:schemeClr val="tx1"/>
                </a:solidFill>
              </a:rPr>
              <a:t>Encourage automatic/electronic payments through convenience reminders.</a:t>
            </a:r>
          </a:p>
          <a:p>
            <a:r>
              <a:rPr lang="en-GB" dirty="0">
                <a:solidFill>
                  <a:schemeClr val="tx1"/>
                </a:solidFill>
              </a:rPr>
              <a:t>Offer small benefits (e.g., loyalty points) for switching payment methods.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04D5AD-19D0-9B84-22A8-DCD9A66306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831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7B0C-6A1D-AF8E-649B-30FFCCC8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9350477" cy="1012782"/>
          </a:xfrm>
        </p:spPr>
        <p:txBody>
          <a:bodyPr/>
          <a:lstStyle/>
          <a:p>
            <a:r>
              <a:rPr lang="en-GB" dirty="0"/>
              <a:t>Insight #4 – Top Churn Reasons Include Poor Support and Competitor Offers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01AE3-6E81-BB5A-17C1-82AB9113E19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7472516" cy="4295151"/>
          </a:xfrm>
        </p:spPr>
        <p:txBody>
          <a:bodyPr>
            <a:normAutofit fontScale="77500" lnSpcReduction="20000"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br>
              <a:rPr lang="en-GB" b="0" i="0" dirty="0">
                <a:solidFill>
                  <a:srgbClr val="2C2C36"/>
                </a:solidFill>
                <a:effectLst/>
                <a:latin typeface="system-ui"/>
              </a:rPr>
            </a:b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Top reasons customers leave:</a:t>
            </a:r>
          </a:p>
          <a:p>
            <a:pPr marL="457200" indent="-457200"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"Competitor had better devices"</a:t>
            </a:r>
          </a:p>
          <a:p>
            <a:pPr marL="457200" indent="-457200"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"Price too high"</a:t>
            </a:r>
          </a:p>
          <a:p>
            <a:pPr marL="457200" indent="-457200" algn="l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"Attitude of support person"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GB" b="0" i="0" dirty="0">
                <a:solidFill>
                  <a:srgbClr val="111827"/>
                </a:solidFill>
                <a:effectLst/>
                <a:latin typeface="system-ui"/>
              </a:rPr>
              <a:t>Visual Suggestion:</a:t>
            </a:r>
          </a:p>
          <a:p>
            <a:pPr marL="342900" indent="-34290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Donut chart or Word Cloud of top churn reasons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b="0" i="0" dirty="0">
                <a:solidFill>
                  <a:srgbClr val="111827"/>
                </a:solidFill>
                <a:effectLst/>
                <a:latin typeface="system-ui"/>
              </a:rPr>
              <a:t>Recommendation:</a:t>
            </a:r>
            <a:endParaRPr lang="en-GB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 Train customer support staff for better service experience.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C2C36"/>
                </a:solidFill>
                <a:effectLst/>
                <a:latin typeface="system-ui"/>
              </a:rPr>
              <a:t> Introduce competitive bundling offers to retain customers.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5D7DB-A9D7-1432-2A20-EDE455EE1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587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3633728"/>
          </a:xfrm>
        </p:spPr>
        <p:txBody>
          <a:bodyPr/>
          <a:lstStyle/>
          <a:p>
            <a:r>
              <a:rPr lang="en-US" sz="9600" dirty="0">
                <a:latin typeface="Brush Script MT" panose="03060802040406070304" pitchFamily="66" charset="0"/>
              </a:rPr>
              <a:t>Thank </a:t>
            </a:r>
            <a:br>
              <a:rPr lang="en-US" sz="9600" dirty="0">
                <a:latin typeface="Brush Script MT" panose="03060802040406070304" pitchFamily="66" charset="0"/>
              </a:rPr>
            </a:br>
            <a:r>
              <a:rPr lang="en-US" sz="9600" dirty="0">
                <a:latin typeface="Brush Script MT" panose="03060802040406070304" pitchFamily="66" charset="0"/>
              </a:rPr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742" y="4777167"/>
            <a:ext cx="5715000" cy="2234642"/>
          </a:xfrm>
        </p:spPr>
        <p:txBody>
          <a:bodyPr/>
          <a:lstStyle/>
          <a:p>
            <a:r>
              <a:rPr lang="en-US" dirty="0"/>
              <a:t>- Devang Prabhune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{65D788D2-05AB-415D-B0DC-91472E89A0C9}tf78438558_win32</Template>
  <TotalTime>36</TotalTime>
  <Words>352</Words>
  <Application>Microsoft Office PowerPoint</Application>
  <PresentationFormat>Widescreen</PresentationFormat>
  <Paragraphs>72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Algerian</vt:lpstr>
      <vt:lpstr>Arial</vt:lpstr>
      <vt:lpstr>Arial Black</vt:lpstr>
      <vt:lpstr>Brush Script MT</vt:lpstr>
      <vt:lpstr>Calibri</vt:lpstr>
      <vt:lpstr>Sabon Next LT</vt:lpstr>
      <vt:lpstr>system-ui</vt:lpstr>
      <vt:lpstr>ui-monospace</vt:lpstr>
      <vt:lpstr>Custom</vt:lpstr>
      <vt:lpstr>Telecom Customer churn analysis</vt:lpstr>
      <vt:lpstr>agenda</vt:lpstr>
      <vt:lpstr>Introduction</vt:lpstr>
      <vt:lpstr>Insight #1 – Month-to-Month Contracts Have Highest Churn</vt:lpstr>
      <vt:lpstr>Insight #2 – Fiber Optic Users Churn More Than DSL Users </vt:lpstr>
      <vt:lpstr>Insight #3 – Electronic Checks Correlate with Lower Churn</vt:lpstr>
      <vt:lpstr>Insight #4 – Top Churn Reasons Include Poor Support and Competitor Offers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Devang Prabhune</dc:creator>
  <cp:lastModifiedBy>Devang Prabhune</cp:lastModifiedBy>
  <cp:revision>1</cp:revision>
  <dcterms:created xsi:type="dcterms:W3CDTF">2025-05-02T23:57:04Z</dcterms:created>
  <dcterms:modified xsi:type="dcterms:W3CDTF">2025-05-03T00:33:14Z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